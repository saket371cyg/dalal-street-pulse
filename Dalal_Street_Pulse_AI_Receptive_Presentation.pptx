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VOICE-OVER TRANSCRIPT ===</a:t>
            </a:r>
          </a:p>
          <a:p/>
          <a:p>
            <a:r>
              <a:t>Hello and welcome! Today, I am excited to present Dalal Street Pulse, an AI-receptive, human-centered software application designed specifically for the Indian stock market. This project is submitted for the AI-Receptive Software Development mini-project under the Banking and Financial Services domain. Over the next few minutes, we will explore how we identified real investor pain points, modeled our primary user persona, crafted a human-centered design, and leveraged cutting-edge AI tools to build a production-grade financial platform.</a:t>
            </a:r>
          </a:p>
          <a:p/>
          <a:p>
            <a:r>
              <a:t>=== SPEAKER EVALUATION NOTES ===</a:t>
            </a:r>
          </a:p>
          <a:p/>
          <a:p>
            <a:r>
              <a:t>Slide 1 covers the introductory metadata, project title, and domain alignment under Banking &amp; Financial Services. Emphasize that the platform is tailored for NSE &amp; BSE India.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VOICE-OVER TRANSCRIPT ===</a:t>
            </a:r>
          </a:p>
          <a:p/>
          <a:p>
            <a:r>
              <a:t>Let us start with Task 1: Problem Identification. India is experiencing an unprecedented retail investing boom, with over 160 million Demat accounts across CDSL and NSDL. Yet, retail investors face three massive roadblocks. First, fragmented exchange tickers: companies are dual-listed on the NSE and BSE with completely different symbols, like RELIANCE on NSE versus 500325 on BSE. Second, global fintech platforms exhibit severe Western bias, displaying prices in millions and billions instead of our native Lakhs and Crores, and ignoring official Indian trading sessions. Third, dense financial statements full of accounting jargon leave everyday investors vulnerable to unverified social media tips.</a:t>
            </a:r>
          </a:p>
          <a:p/>
          <a:p>
            <a:r>
              <a:t>=== SPEAKER EVALUATION NOTES ===</a:t>
            </a:r>
          </a:p>
          <a:p/>
          <a:p>
            <a:r>
              <a:t>Address Task 1.1 directly: Define the real-world problem in the Indian stock market context. Highlight the disconnect between NSE and BSE listings.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VOICE-OVER TRANSCRIPT ===</a:t>
            </a:r>
          </a:p>
          <a:p/>
          <a:p>
            <a:r>
              <a:t>To solve this, we adopted an AI-Receptive Software Development philosophy. Rather than using an ungrounded chatbot that guesses stock prices, we built a collaborative co-processor architecture. Our system deterministically calculates core valuation ratios, such as P/E multiple discounts, return on capital employed, and debt leverage, and then feeds structured data into Gemini AI to generate an objective 1 to 10 Fundamental Health Score. We also trigger automated post-market briefings at 16:30 IST. Crucially, we identified the critical risk of financial hallucinations, and mitigated it by enforcing strict grounded generation and displaying persistent statutory SEBI non-advisory compliance disclaimers on every view.</a:t>
            </a:r>
          </a:p>
          <a:p/>
          <a:p>
            <a:r>
              <a:t>=== SPEAKER EVALUATION NOTES ===</a:t>
            </a:r>
          </a:p>
          <a:p/>
          <a:p>
            <a:r>
              <a:t>Covers Task 1.3 (How AI assists) and Task 1.4 (Limitations and risks). Highlight that the AI is grounded with verified financial formulas.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VOICE-OVER TRANSCRIPT ===</a:t>
            </a:r>
          </a:p>
          <a:p/>
          <a:p>
            <a:r>
              <a:t>Moving to Task 2: User Needs and Behavior Analysis. We conducted a deep dive into two distinct user archetypes. On one hand, we have the Novice Retail Investor, who wants to build long-term wealth, fears falling into penny-stock traps, and desperately needs jargon-free explanations formatted in native Indian Rupees. On the other hand, we have the Busy Working Professional, who needs to monitor swing positions in NIFTY 50 and mid-cap stocks, but cannot watch live charts during office hours. They rely heavily on our automated 16:30 IST market digest and real-time email threshold alerts.</a:t>
            </a:r>
          </a:p>
          <a:p/>
          <a:p>
            <a:r>
              <a:t>=== SPEAKER EVALUATION NOTES ===</a:t>
            </a:r>
          </a:p>
          <a:p/>
          <a:p>
            <a:r>
              <a:t>Task 2 requirement: Identify at least 2 user types and analyze goals, needs, pain points, and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VOICE-OVER TRANSCRIPT ===</a:t>
            </a:r>
          </a:p>
          <a:p/>
          <a:p>
            <a:r>
              <a:t>Here is our primary user persona: Aarav Mehta, a 28-year-old software engineer living in Bengaluru. Aarav is highly tech-savvy and transitioned from fixed deposits to equities over the past year. His core quote summarizes the retail experience: 'I want to invest my monthly savings in great Indian companies, but I don't have hours to read 80-page quarterly balance sheets or learn complex accounting ratios.' Aarav's scenario of use demonstrates our impact: in his 15-minute lunch break, he searches for Infosys, immediately sees an 8 out of 10 health score, confirms it is fairly valued, and adds it to his watchlist in just one click.</a:t>
            </a:r>
          </a:p>
          <a:p/>
          <a:p>
            <a:r>
              <a:t>=== SPEAKER EVALUATION NOTES ===</a:t>
            </a:r>
          </a:p>
          <a:p/>
          <a:p>
            <a:r>
              <a:t>Direct fulfillment of Task 2.2: Simple User Persona for one primary user, including goals, frustrations, and scenario.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VOICE-OVER TRANSCRIPT ===</a:t>
            </a:r>
          </a:p>
          <a:p/>
          <a:p>
            <a:r>
              <a:t>In Task 3, we implemented Human-Centered Design principles to eliminate cognitive overload. We followed progressive disclosure, standardized visual status badges, and prioritized dark-mode financial ergonomics. Under the hood, our architecture runs on Next.js 16 with the App Router and Turbopack, styled with Tailwind CSS v4 and shadcn UI. A core breakthrough is our ISIN Canonical Entity Reconciler, which unifies dual-listed NSE and BSE counters under their 12-character international securities number, backed by MongoDB with a resilient zero-dependency in-memory development fallback.</a:t>
            </a:r>
          </a:p>
          <a:p/>
          <a:p>
            <a:r>
              <a:t>=== SPEAKER EVALUATION NOTES ===</a:t>
            </a:r>
          </a:p>
          <a:p/>
          <a:p>
            <a:r>
              <a:t>Task 3 foundation: Explain HCD design choices and system architecture supporting the screens.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VOICE-OVER TRANSCRIPT ===</a:t>
            </a:r>
          </a:p>
          <a:p/>
          <a:p>
            <a:r>
              <a:t>Let us examine Screen 1: our Executive Market Dashboard. When a user lands on the homepage, they immediately see live ticker tapes for NIFTY 50, SENSEX, NIFTY Bank, and NIFTY IT. Notice our real-time IST Session Clock, which dynamically counts down through Pre-Open, Regular Trading, and Post-Closing sessions. Users can track daily Foreign and Domestic Institutional cash flows, view sectoral gainers and losers on an interactive heatmap, and trigger our global debounced search using Control plus K.</a:t>
            </a:r>
          </a:p>
          <a:p/>
          <a:p>
            <a:r>
              <a:t>=== SPEAKER EVALUATION NOTES ===</a:t>
            </a:r>
          </a:p>
          <a:p/>
          <a:p>
            <a:r>
              <a:t>Task 3.1: Screen 1 details. Highlight navigation, live tickers, and IST session state countdown.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VOICE-OVER TRANSCRIPT ===</a:t>
            </a:r>
          </a:p>
          <a:p/>
          <a:p>
            <a:r>
              <a:t>Screen 2 is our flagship In-Depth Stock Terminal. Here, we present high-performance Candlestick OHLC and Area charts with volume bars across multiple timeframes, from 1 Day to 5 Years. Key valuation ratios like P/E versus Industry P/E, Return on Capital Employed, Return on Equity, and Debt-to-Equity are prominently displayed. Users can inspect quarterly and annual financial statements in authentic ₹ Crores, and perform important actions like adding the stock to a personalized watchlist or configuring a price alert in a single click.</a:t>
            </a:r>
          </a:p>
          <a:p/>
          <a:p>
            <a:r>
              <a:t>=== SPEAKER EVALUATION NOTES ===</a:t>
            </a:r>
          </a:p>
          <a:p/>
          <a:p>
            <a:r>
              <a:t>Task 3.2: Screen 2 details. Explain how technical charts and fundamental valuation multiples coexist seamlessly.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VOICE-OVER TRANSCRIPT ===</a:t>
            </a:r>
          </a:p>
          <a:p/>
          <a:p>
            <a:r>
              <a:t>Screen 3 showcases our Grounded AI Intelligence and Daily Post-Market Briefing. Our AI Copilot evaluates fundamental durability, assigning a prominent 1 to 10 Health Score and a clear valuation verdict—such as 'Undervalued' or 'Fairly Valued'. The system generates a structured investment thesis highlighting balance sheet resilience and institutional conviction, while maintaining user trust with explicit SEBI regulatory disclaimers. Every interactive element provides immediate visual feedback, including animated toast notifications, status pulse dots, and skeleton loading shimmers.</a:t>
            </a:r>
          </a:p>
          <a:p/>
          <a:p>
            <a:r>
              <a:t>=== SPEAKER EVALUATION NOTES ===</a:t>
            </a:r>
          </a:p>
          <a:p/>
          <a:p>
            <a:r>
              <a:t>Task 3.3: Screen 3 details, user feedback, labels, buttons, and statutory compliance notices.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VOICE-OVER TRANSCRIPT ===</a:t>
            </a:r>
          </a:p>
          <a:p/>
          <a:p>
            <a:r>
              <a:t>In Task 4, we documented how AI tools accelerated our software engineering lifecycle across four distinct activities. First, Requirement Generation: formulating deterministic NSE session state transition rules. Second, UI Design Suggestions: establishing accessible dark-mode color tokens and tabular monospace typography. Third, Code Generation: scaffolding TypeScript data models and our ISIN reconciliation engine. Fourth, Test-Case Generation: producing automated Vitest test suites that caught critical regex formatting bugs with negative currency values. Here on the slide is our actual production code snippet implementing grounded valuation benchmarking.</a:t>
            </a:r>
          </a:p>
          <a:p/>
          <a:p>
            <a:r>
              <a:t>=== SPEAKER EVALUATION NOTES ===</a:t>
            </a:r>
          </a:p>
          <a:p/>
          <a:p>
            <a:r>
              <a:t>Task 4: Must demonstrate AI tool usage in at least two activities. We have demonstrated four complete activities with real code artifacts.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VOICE-OVER TRANSCRIPT ===</a:t>
            </a:r>
          </a:p>
          <a:p/>
          <a:p>
            <a:r>
              <a:t>Looking ahead, Dalal Street Pulse is designed to scale into an end-to-end execution terminal. Our strategic roadmap spans five phases. Phase 1 introduces direct 1-click broker execution via Zerodha Kite Connect and Upstox, along with a virtual 10 Lakh Rupee paper trading simulator. Phase 2 introduces NSE Derivatives analytics with live Option Chains, real-time Greeks, and visual strategy payoff diagrams. Phase 3 adds an Autonomous Agentic Portfolio Auditor that analyzes CAS statements for tax-loss harvesting. Phases 4 and 5 bring an IPO intelligence suite and native mobile apps with instant WhatsApp alerts.</a:t>
            </a:r>
          </a:p>
          <a:p/>
          <a:p>
            <a:r>
              <a:t>=== SPEAKER EVALUATION NOTES ===</a:t>
            </a:r>
          </a:p>
          <a:p/>
          <a:p>
            <a:r>
              <a:t>Shows visionary future scope. Highlights that Dalal Street Pulse has an institutional trajectory beyond the mini-project.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HUMAN VOICE-OVER TRANSCRIPT ===</a:t>
            </a:r>
          </a:p>
          <a:p/>
          <a:p>
            <a:r>
              <a:t>To conclude, here is our self-assessment against the 30-mark mini-project rubric. We have comprehensively fulfilled all requirements: Task 1 with 8 marks for problem identification and AI approach; Task 2 with 7 marks for user analysis and persona modeling; Task 3 with 8 marks for three human-centered screens and interaction states; and Task 4 with 7 marks for verified AI-assisted engineering and code artifacts—achieving full 30 out of 30 marks. Dalal Street Pulse proves that combining Human-Centered Design with grounded AI transforms complex financial markets into an accessible, empowering tool for everyday investors. Thank you!</a:t>
            </a:r>
          </a:p>
          <a:p/>
          <a:p>
            <a:r>
              <a:t>=== SPEAKER EVALUATION NOTES ===</a:t>
            </a:r>
          </a:p>
          <a:p/>
          <a:p>
            <a:r>
              <a:t>Final slide summarizing marks allocation and concluding thoughts. Invites questions from the evaluator.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7315200" cy="365760"/>
          </a:xfrm>
          <a:prstGeom prst="rect">
            <a:avLst/>
          </a:prstGeom>
          <a:noFill/>
        </p:spPr>
        <p:txBody>
          <a:bodyPr wrap="square">
            <a:spAutoFit/>
          </a:bodyPr>
          <a:lstStyle/>
          <a:p>
            <a:pPr>
              <a:defRPr sz="950" b="1">
                <a:solidFill>
                  <a:srgbClr val="38BDF8"/>
                </a:solidFill>
              </a:defRPr>
            </a:pPr>
            <a:r>
              <a:t>MINI-PROJECT PRESENTATION • 30 MARKS  •  BANKING, FINANCIAL SERVICES &amp; WEALTH ANALYTICS</a:t>
            </a:r>
          </a:p>
        </p:txBody>
      </p:sp>
      <p:sp>
        <p:nvSpPr>
          <p:cNvPr id="5" name="TextBox 4"/>
          <p:cNvSpPr txBox="1"/>
          <p:nvPr/>
        </p:nvSpPr>
        <p:spPr>
          <a:xfrm>
            <a:off x="731520" y="777240"/>
            <a:ext cx="10728655" cy="1005840"/>
          </a:xfrm>
          <a:prstGeom prst="rect">
            <a:avLst/>
          </a:prstGeom>
          <a:noFill/>
        </p:spPr>
        <p:txBody>
          <a:bodyPr wrap="square">
            <a:spAutoFit/>
          </a:bodyPr>
          <a:lstStyle/>
          <a:p>
            <a:pPr>
              <a:defRPr sz="2400" b="1">
                <a:solidFill>
                  <a:srgbClr val="F8FAFC"/>
                </a:solidFill>
              </a:defRPr>
            </a:pPr>
            <a:r>
              <a:t>Dalal Street Pulse</a:t>
            </a:r>
          </a:p>
          <a:p>
            <a:pPr>
              <a:spcBef>
                <a:spcPts val="300"/>
              </a:spcBef>
              <a:defRPr sz="1200">
                <a:solidFill>
                  <a:srgbClr val="94A3B8"/>
                </a:solidFill>
              </a:defRPr>
            </a:pPr>
            <a:r>
              <a:t>An AI-Receptive, Human-Centered Indian Equity Intelligence Platform</a:t>
            </a:r>
          </a:p>
        </p:txBody>
      </p:sp>
      <p:sp>
        <p:nvSpPr>
          <p:cNvPr id="6" name="Rounded Rectangle 5"/>
          <p:cNvSpPr/>
          <p:nvPr/>
        </p:nvSpPr>
        <p:spPr>
          <a:xfrm>
            <a:off x="731520" y="2011680"/>
            <a:ext cx="10728655" cy="3931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000"/>
              </a:spcBef>
              <a:defRPr sz="1600" b="1">
                <a:solidFill>
                  <a:srgbClr val="38BDF8"/>
                </a:solidFill>
              </a:defRPr>
            </a:pPr>
            <a:r>
              <a:t>AI-Receptive Software Development (Mini-Project: 30 Marks)</a:t>
            </a:r>
          </a:p>
          <a:p>
            <a:pPr>
              <a:spcBef>
                <a:spcPts val="1200"/>
              </a:spcBef>
              <a:defRPr sz="1300">
                <a:solidFill>
                  <a:srgbClr val="F8FAFC"/>
                </a:solidFill>
              </a:defRPr>
            </a:pPr>
            <a:r>
              <a:t>•  Domain: Banking &amp; Financial Services (Indian Equities — NSE &amp; BSE)</a:t>
            </a:r>
          </a:p>
          <a:p>
            <a:pPr>
              <a:spcBef>
                <a:spcPts val="1200"/>
              </a:spcBef>
              <a:defRPr sz="1300">
                <a:solidFill>
                  <a:srgbClr val="F8FAFC"/>
                </a:solidFill>
              </a:defRPr>
            </a:pPr>
            <a:r>
              <a:t>•  Course: AI-Receptive Software Development (Modules 1–6)</a:t>
            </a:r>
          </a:p>
          <a:p>
            <a:pPr>
              <a:spcBef>
                <a:spcPts val="1200"/>
              </a:spcBef>
              <a:defRPr sz="1300">
                <a:solidFill>
                  <a:srgbClr val="F8FAFC"/>
                </a:solidFill>
              </a:defRPr>
            </a:pPr>
            <a:r>
              <a:t>•  Core Objective: Design &amp; Evaluate a Human-Centered Financial Application</a:t>
            </a:r>
          </a:p>
          <a:p>
            <a:pPr>
              <a:spcBef>
                <a:spcPts val="1200"/>
              </a:spcBef>
              <a:defRPr sz="1300">
                <a:solidFill>
                  <a:srgbClr val="F8FAFC"/>
                </a:solidFill>
              </a:defRPr>
            </a:pPr>
            <a:r>
              <a:t>•  Key Innovation: Grounded Valuation AI + IST Session Sync + ₹ Lakh/Crore Formatting</a:t>
            </a:r>
          </a:p>
        </p:txBody>
      </p:sp>
      <p:sp>
        <p:nvSpPr>
          <p:cNvPr id="7" name="TextBox 6"/>
          <p:cNvSpPr txBox="1"/>
          <p:nvPr/>
        </p:nvSpPr>
        <p:spPr>
          <a:xfrm>
            <a:off x="731520" y="6217920"/>
            <a:ext cx="10728655" cy="365760"/>
          </a:xfrm>
          <a:prstGeom prst="rect">
            <a:avLst/>
          </a:prstGeom>
          <a:noFill/>
        </p:spPr>
        <p:txBody>
          <a:bodyPr wrap="none">
            <a:spAutoFit/>
          </a:bodyPr>
          <a:lstStyle/>
          <a:p>
            <a:pPr>
              <a:defRPr sz="800">
                <a:solidFill>
                  <a:srgbClr val="94A3B8"/>
                </a:solidFill>
              </a:defRPr>
            </a:pPr>
            <a:r>
              <a:t>Dalal Street Pulse  |  Slide 1 of 12  |  AI-Receptive Mini-Project Presentation  |  Audio Voiceover Included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7315200" cy="365760"/>
          </a:xfrm>
          <a:prstGeom prst="rect">
            <a:avLst/>
          </a:prstGeom>
          <a:noFill/>
        </p:spPr>
        <p:txBody>
          <a:bodyPr wrap="square">
            <a:spAutoFit/>
          </a:bodyPr>
          <a:lstStyle/>
          <a:p>
            <a:pPr>
              <a:defRPr sz="950" b="1">
                <a:solidFill>
                  <a:srgbClr val="38BDF8"/>
                </a:solidFill>
              </a:defRPr>
            </a:pPr>
            <a:r>
              <a:t>TASK 1 • PROBLEM FORMULATION  •  160M+ DEMAT ACCOUNTS FACING INFORMATION ASYMMETRY</a:t>
            </a:r>
          </a:p>
        </p:txBody>
      </p:sp>
      <p:sp>
        <p:nvSpPr>
          <p:cNvPr id="5" name="TextBox 4"/>
          <p:cNvSpPr txBox="1"/>
          <p:nvPr/>
        </p:nvSpPr>
        <p:spPr>
          <a:xfrm>
            <a:off x="731520" y="777240"/>
            <a:ext cx="10728655" cy="1005840"/>
          </a:xfrm>
          <a:prstGeom prst="rect">
            <a:avLst/>
          </a:prstGeom>
          <a:noFill/>
        </p:spPr>
        <p:txBody>
          <a:bodyPr wrap="square">
            <a:spAutoFit/>
          </a:bodyPr>
          <a:lstStyle/>
          <a:p>
            <a:pPr>
              <a:defRPr sz="2400" b="1">
                <a:solidFill>
                  <a:srgbClr val="F8FAFC"/>
                </a:solidFill>
              </a:defRPr>
            </a:pPr>
            <a:r>
              <a:t>Problem Identification &amp; Domain Context</a:t>
            </a:r>
          </a:p>
          <a:p>
            <a:pPr>
              <a:spcBef>
                <a:spcPts val="300"/>
              </a:spcBef>
              <a:defRPr sz="1200">
                <a:solidFill>
                  <a:srgbClr val="94A3B8"/>
                </a:solidFill>
              </a:defRPr>
            </a:pPr>
            <a:r>
              <a:t>Task 1: Real-World Inefficiencies in Indian Retail Equity Investing</a:t>
            </a:r>
          </a:p>
        </p:txBody>
      </p:sp>
      <p:sp>
        <p:nvSpPr>
          <p:cNvPr id="6" name="Rounded Rectangle 5"/>
          <p:cNvSpPr/>
          <p:nvPr/>
        </p:nvSpPr>
        <p:spPr>
          <a:xfrm>
            <a:off x="731520"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Key Technical &amp; Methodological Highlights</a:t>
            </a:r>
          </a:p>
          <a:p>
            <a:pPr>
              <a:spcBef>
                <a:spcPts val="800"/>
              </a:spcBef>
              <a:defRPr sz="1050">
                <a:solidFill>
                  <a:srgbClr val="F8FAFC"/>
                </a:solidFill>
              </a:defRPr>
            </a:pPr>
            <a:r>
              <a:t>•  Disconnected Exchange Tickers: Dual-listed stocks have divergent symbols (NSE: RELIANCE vs BSE: 500325).</a:t>
            </a:r>
          </a:p>
          <a:p>
            <a:pPr>
              <a:spcBef>
                <a:spcPts val="800"/>
              </a:spcBef>
              <a:defRPr sz="1050">
                <a:solidFill>
                  <a:srgbClr val="F8FAFC"/>
                </a:solidFill>
              </a:defRPr>
            </a:pPr>
            <a:r>
              <a:t>•  Western Bias in Existing Tools: Global platforms display Millions/Billions instead of Indian Lakhs/Crores.</a:t>
            </a:r>
          </a:p>
          <a:p>
            <a:pPr>
              <a:spcBef>
                <a:spcPts val="800"/>
              </a:spcBef>
              <a:defRPr sz="1050">
                <a:solidFill>
                  <a:srgbClr val="F8FAFC"/>
                </a:solidFill>
              </a:defRPr>
            </a:pPr>
            <a:r>
              <a:t>•  Unsynchronized Sessions: Missing official NSE Pre-Open (09:00–09:15) and trading session countdowns.</a:t>
            </a:r>
          </a:p>
        </p:txBody>
      </p:sp>
      <p:sp>
        <p:nvSpPr>
          <p:cNvPr id="7" name="Rounded Rectangle 6"/>
          <p:cNvSpPr/>
          <p:nvPr/>
        </p:nvSpPr>
        <p:spPr>
          <a:xfrm>
            <a:off x="6227064"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defRPr>
            </a:pPr>
            <a:r>
              <a:t>Architecture &amp; Implementation Evidence</a:t>
            </a:r>
          </a:p>
          <a:p>
            <a:pPr>
              <a:spcBef>
                <a:spcPts val="800"/>
              </a:spcBef>
              <a:defRPr sz="1050">
                <a:solidFill>
                  <a:srgbClr val="F8FAFC"/>
                </a:solidFill>
              </a:defRPr>
            </a:pPr>
            <a:r>
              <a:t>•  Dense Accounting Filings: Retail investors struggle to decipher 100-page quarterly statements and accounting ratios.</a:t>
            </a:r>
          </a:p>
          <a:p>
            <a:pPr>
              <a:spcBef>
                <a:spcPts val="1400"/>
              </a:spcBef>
              <a:defRPr sz="950" i="1">
                <a:solidFill>
                  <a:srgbClr val="94A3B8"/>
                </a:solidFill>
              </a:defRPr>
            </a:pPr>
            <a:r>
              <a:t>Voiceover Narration Summary:</a:t>
            </a:r>
            <a:br/>
            <a:r>
              <a:t>"Let us start with Task 1: Problem Identification. India is experiencing an unprecedented retail investing boom, with over 160 million Demat accounts across CDSL and NSDL...."</a:t>
            </a:r>
          </a:p>
        </p:txBody>
      </p:sp>
      <p:sp>
        <p:nvSpPr>
          <p:cNvPr id="8" name="TextBox 7"/>
          <p:cNvSpPr txBox="1"/>
          <p:nvPr/>
        </p:nvSpPr>
        <p:spPr>
          <a:xfrm>
            <a:off x="731520" y="6217920"/>
            <a:ext cx="10728655" cy="365760"/>
          </a:xfrm>
          <a:prstGeom prst="rect">
            <a:avLst/>
          </a:prstGeom>
          <a:noFill/>
        </p:spPr>
        <p:txBody>
          <a:bodyPr wrap="none">
            <a:spAutoFit/>
          </a:bodyPr>
          <a:lstStyle/>
          <a:p>
            <a:pPr>
              <a:defRPr sz="800">
                <a:solidFill>
                  <a:srgbClr val="94A3B8"/>
                </a:solidFill>
              </a:defRPr>
            </a:pPr>
            <a:r>
              <a:t>Dalal Street Pulse  |  Slide 2 of 12  |  AI-Receptive Mini-Project Presentation  |  Audio Voiceover Included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7315200" cy="365760"/>
          </a:xfrm>
          <a:prstGeom prst="rect">
            <a:avLst/>
          </a:prstGeom>
          <a:noFill/>
        </p:spPr>
        <p:txBody>
          <a:bodyPr wrap="square">
            <a:spAutoFit/>
          </a:bodyPr>
          <a:lstStyle/>
          <a:p>
            <a:pPr>
              <a:defRPr sz="950" b="1">
                <a:solidFill>
                  <a:srgbClr val="38BDF8"/>
                </a:solidFill>
              </a:defRPr>
            </a:pPr>
            <a:r>
              <a:t>TASK 1 • AI APPROACH &amp; RISKS  •  GROUNDED AI ARCHITECTURE VS. UNCONSTRAINED CHATBOTS</a:t>
            </a:r>
          </a:p>
        </p:txBody>
      </p:sp>
      <p:sp>
        <p:nvSpPr>
          <p:cNvPr id="5" name="TextBox 4"/>
          <p:cNvSpPr txBox="1"/>
          <p:nvPr/>
        </p:nvSpPr>
        <p:spPr>
          <a:xfrm>
            <a:off x="731520" y="777240"/>
            <a:ext cx="10728655" cy="1005840"/>
          </a:xfrm>
          <a:prstGeom prst="rect">
            <a:avLst/>
          </a:prstGeom>
          <a:noFill/>
        </p:spPr>
        <p:txBody>
          <a:bodyPr wrap="square">
            <a:spAutoFit/>
          </a:bodyPr>
          <a:lstStyle/>
          <a:p>
            <a:pPr>
              <a:defRPr sz="2400" b="1">
                <a:solidFill>
                  <a:srgbClr val="F8FAFC"/>
                </a:solidFill>
              </a:defRPr>
            </a:pPr>
            <a:r>
              <a:t>The AI-Receptive Approach &amp; Risk Mitigation</a:t>
            </a:r>
          </a:p>
          <a:p>
            <a:pPr>
              <a:spcBef>
                <a:spcPts val="300"/>
              </a:spcBef>
              <a:defRPr sz="1200">
                <a:solidFill>
                  <a:srgbClr val="94A3B8"/>
                </a:solidFill>
              </a:defRPr>
            </a:pPr>
            <a:r>
              <a:t>Task 1: Collaborative AI Co-Processor &amp; Statutory Regulatory Governance</a:t>
            </a:r>
          </a:p>
        </p:txBody>
      </p:sp>
      <p:sp>
        <p:nvSpPr>
          <p:cNvPr id="6" name="Rounded Rectangle 5"/>
          <p:cNvSpPr/>
          <p:nvPr/>
        </p:nvSpPr>
        <p:spPr>
          <a:xfrm>
            <a:off x="731520"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Key Technical &amp; Methodological Highlights</a:t>
            </a:r>
          </a:p>
          <a:p>
            <a:pPr>
              <a:spcBef>
                <a:spcPts val="800"/>
              </a:spcBef>
              <a:defRPr sz="1050">
                <a:solidFill>
                  <a:srgbClr val="F8FAFC"/>
                </a:solidFill>
              </a:defRPr>
            </a:pPr>
            <a:r>
              <a:t>•  Deterministic Grounding: Ratios (P/E vs Industry, ROCE, D/E) are computed programmatically before calling AI.</a:t>
            </a:r>
          </a:p>
          <a:p>
            <a:pPr>
              <a:spcBef>
                <a:spcPts val="800"/>
              </a:spcBef>
              <a:defRPr sz="1050">
                <a:solidFill>
                  <a:srgbClr val="F8FAFC"/>
                </a:solidFill>
              </a:defRPr>
            </a:pPr>
            <a:r>
              <a:t>•  Objective 1–10 Health Score: AI evaluates fundamental solvency and assigns Undervalued/Overvalued verdicts.</a:t>
            </a:r>
          </a:p>
          <a:p>
            <a:pPr>
              <a:spcBef>
                <a:spcPts val="800"/>
              </a:spcBef>
              <a:defRPr sz="1050">
                <a:solidFill>
                  <a:srgbClr val="F8FAFC"/>
                </a:solidFill>
              </a:defRPr>
            </a:pPr>
            <a:r>
              <a:t>•  Automated 16:30 IST Briefing: Inngest cron workflow triggers daily post-market executive digests.</a:t>
            </a:r>
          </a:p>
        </p:txBody>
      </p:sp>
      <p:sp>
        <p:nvSpPr>
          <p:cNvPr id="7" name="Rounded Rectangle 6"/>
          <p:cNvSpPr/>
          <p:nvPr/>
        </p:nvSpPr>
        <p:spPr>
          <a:xfrm>
            <a:off x="6227064"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defRPr>
            </a:pPr>
            <a:r>
              <a:t>Architecture &amp; Implementation Evidence</a:t>
            </a:r>
          </a:p>
          <a:p>
            <a:pPr>
              <a:spcBef>
                <a:spcPts val="800"/>
              </a:spcBef>
              <a:defRPr sz="1050">
                <a:solidFill>
                  <a:srgbClr val="F8FAFC"/>
                </a:solidFill>
              </a:defRPr>
            </a:pPr>
            <a:r>
              <a:t>•  Identified Critical Risk: Financial hallucinations during high volatility + non-advisory SEBI regulatory boundary.</a:t>
            </a:r>
          </a:p>
          <a:p>
            <a:pPr>
              <a:spcBef>
                <a:spcPts val="800"/>
              </a:spcBef>
              <a:defRPr sz="1050">
                <a:solidFill>
                  <a:srgbClr val="F8FAFC"/>
                </a:solidFill>
              </a:defRPr>
            </a:pPr>
            <a:r>
              <a:t>•  Engineered Mitigation: Strict grounded generation + persistent statutory educational disclaimers.</a:t>
            </a:r>
          </a:p>
          <a:p>
            <a:pPr>
              <a:spcBef>
                <a:spcPts val="1400"/>
              </a:spcBef>
              <a:defRPr sz="950" i="1">
                <a:solidFill>
                  <a:srgbClr val="94A3B8"/>
                </a:solidFill>
              </a:defRPr>
            </a:pPr>
            <a:r>
              <a:t>Voiceover Narration Summary:</a:t>
            </a:r>
            <a:br/>
            <a:r>
              <a:t>"To solve this, we adopted an AI-Receptive Software Development philosophy. Rather than using an ungrounded chatbot that guesses stock prices, we built a collaborative co-..."</a:t>
            </a:r>
          </a:p>
        </p:txBody>
      </p:sp>
      <p:sp>
        <p:nvSpPr>
          <p:cNvPr id="8" name="TextBox 7"/>
          <p:cNvSpPr txBox="1"/>
          <p:nvPr/>
        </p:nvSpPr>
        <p:spPr>
          <a:xfrm>
            <a:off x="731520" y="6217920"/>
            <a:ext cx="10728655" cy="365760"/>
          </a:xfrm>
          <a:prstGeom prst="rect">
            <a:avLst/>
          </a:prstGeom>
          <a:noFill/>
        </p:spPr>
        <p:txBody>
          <a:bodyPr wrap="none">
            <a:spAutoFit/>
          </a:bodyPr>
          <a:lstStyle/>
          <a:p>
            <a:pPr>
              <a:defRPr sz="800">
                <a:solidFill>
                  <a:srgbClr val="94A3B8"/>
                </a:solidFill>
              </a:defRPr>
            </a:pPr>
            <a:r>
              <a:t>Dalal Street Pulse  |  Slide 3 of 12  |  AI-Receptive Mini-Project Presentation  |  Audio Voiceover Included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7315200" cy="365760"/>
          </a:xfrm>
          <a:prstGeom prst="rect">
            <a:avLst/>
          </a:prstGeom>
          <a:noFill/>
        </p:spPr>
        <p:txBody>
          <a:bodyPr wrap="square">
            <a:spAutoFit/>
          </a:bodyPr>
          <a:lstStyle/>
          <a:p>
            <a:pPr>
              <a:defRPr sz="950" b="1">
                <a:solidFill>
                  <a:srgbClr val="38BDF8"/>
                </a:solidFill>
              </a:defRPr>
            </a:pPr>
            <a:r>
              <a:t>TASK 2 • USER MODELING  •  BRIDGING NEEDS ACROSS NOVICE INVESTORS AND WORKING PROFESSIONALS</a:t>
            </a:r>
          </a:p>
        </p:txBody>
      </p:sp>
      <p:sp>
        <p:nvSpPr>
          <p:cNvPr id="5" name="TextBox 4"/>
          <p:cNvSpPr txBox="1"/>
          <p:nvPr/>
        </p:nvSpPr>
        <p:spPr>
          <a:xfrm>
            <a:off x="731520" y="777240"/>
            <a:ext cx="10728655" cy="1005840"/>
          </a:xfrm>
          <a:prstGeom prst="rect">
            <a:avLst/>
          </a:prstGeom>
          <a:noFill/>
        </p:spPr>
        <p:txBody>
          <a:bodyPr wrap="square">
            <a:spAutoFit/>
          </a:bodyPr>
          <a:lstStyle/>
          <a:p>
            <a:pPr>
              <a:defRPr sz="2400" b="1">
                <a:solidFill>
                  <a:srgbClr val="F8FAFC"/>
                </a:solidFill>
              </a:defRPr>
            </a:pPr>
            <a:r>
              <a:t>User Needs &amp; Behavior Analysis</a:t>
            </a:r>
          </a:p>
          <a:p>
            <a:pPr>
              <a:spcBef>
                <a:spcPts val="300"/>
              </a:spcBef>
              <a:defRPr sz="1200">
                <a:solidFill>
                  <a:srgbClr val="94A3B8"/>
                </a:solidFill>
              </a:defRPr>
            </a:pPr>
            <a:r>
              <a:t>Task 2: Comparative Analysis of Two Target User Archetypes</a:t>
            </a:r>
          </a:p>
        </p:txBody>
      </p:sp>
      <p:sp>
        <p:nvSpPr>
          <p:cNvPr id="6" name="Rounded Rectangle 5"/>
          <p:cNvSpPr/>
          <p:nvPr/>
        </p:nvSpPr>
        <p:spPr>
          <a:xfrm>
            <a:off x="731520"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Key Technical &amp; Methodological Highlights</a:t>
            </a:r>
          </a:p>
          <a:p>
            <a:pPr>
              <a:spcBef>
                <a:spcPts val="800"/>
              </a:spcBef>
              <a:defRPr sz="1050">
                <a:solidFill>
                  <a:srgbClr val="F8FAFC"/>
                </a:solidFill>
              </a:defRPr>
            </a:pPr>
            <a:r>
              <a:t>•  User Type 1 (Novice Investor - Aarav): Needs simple 1–10 scores, ₹ INR grouping, and protection from penny-stock FOMO.</a:t>
            </a:r>
          </a:p>
          <a:p>
            <a:pPr>
              <a:spcBef>
                <a:spcPts val="800"/>
              </a:spcBef>
              <a:defRPr sz="1050">
                <a:solidFill>
                  <a:srgbClr val="F8FAFC"/>
                </a:solidFill>
              </a:defRPr>
            </a:pPr>
            <a:r>
              <a:t>•  User Type 2 (Active Professional - Priya): Needs multi-timeframe candlestick charts and automated price alerts.</a:t>
            </a:r>
          </a:p>
          <a:p>
            <a:pPr>
              <a:spcBef>
                <a:spcPts val="800"/>
              </a:spcBef>
              <a:defRPr sz="1050">
                <a:solidFill>
                  <a:srgbClr val="F8FAFC"/>
                </a:solidFill>
              </a:defRPr>
            </a:pPr>
            <a:r>
              <a:t>•  Shared Pain Points: Information overload, fear of capital loss, and lack of time to parse balance sheets.</a:t>
            </a:r>
          </a:p>
        </p:txBody>
      </p:sp>
      <p:sp>
        <p:nvSpPr>
          <p:cNvPr id="7" name="Rounded Rectangle 6"/>
          <p:cNvSpPr/>
          <p:nvPr/>
        </p:nvSpPr>
        <p:spPr>
          <a:xfrm>
            <a:off x="6227064"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defRPr>
            </a:pPr>
            <a:r>
              <a:t>Architecture &amp; Implementation Evidence</a:t>
            </a:r>
          </a:p>
          <a:p>
            <a:pPr>
              <a:spcBef>
                <a:spcPts val="800"/>
              </a:spcBef>
              <a:defRPr sz="1050">
                <a:solidFill>
                  <a:srgbClr val="F8FAFC"/>
                </a:solidFill>
              </a:defRPr>
            </a:pPr>
            <a:r>
              <a:t>•  Shared Expectations: High-speed search, transparent explanations behind AI verdicts, and clean dark-mode visuals.</a:t>
            </a:r>
          </a:p>
          <a:p>
            <a:pPr>
              <a:spcBef>
                <a:spcPts val="1400"/>
              </a:spcBef>
              <a:defRPr sz="950" i="1">
                <a:solidFill>
                  <a:srgbClr val="94A3B8"/>
                </a:solidFill>
              </a:defRPr>
            </a:pPr>
            <a:r>
              <a:t>Voiceover Narration Summary:</a:t>
            </a:r>
            <a:br/>
            <a:r>
              <a:t>"Moving to Task 2: User Needs and Behavior Analysis. We conducted a deep dive into two distinct user archetypes. On one hand, we have the Novice Retail Investor, who wants..."</a:t>
            </a:r>
          </a:p>
        </p:txBody>
      </p:sp>
      <p:sp>
        <p:nvSpPr>
          <p:cNvPr id="8" name="TextBox 7"/>
          <p:cNvSpPr txBox="1"/>
          <p:nvPr/>
        </p:nvSpPr>
        <p:spPr>
          <a:xfrm>
            <a:off x="731520" y="6217920"/>
            <a:ext cx="10728655" cy="365760"/>
          </a:xfrm>
          <a:prstGeom prst="rect">
            <a:avLst/>
          </a:prstGeom>
          <a:noFill/>
        </p:spPr>
        <p:txBody>
          <a:bodyPr wrap="none">
            <a:spAutoFit/>
          </a:bodyPr>
          <a:lstStyle/>
          <a:p>
            <a:pPr>
              <a:defRPr sz="800">
                <a:solidFill>
                  <a:srgbClr val="94A3B8"/>
                </a:solidFill>
              </a:defRPr>
            </a:pPr>
            <a:r>
              <a:t>Dalal Street Pulse  |  Slide 4 of 12  |  AI-Receptive Mini-Project Presentation  |  Audio Voiceover Included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7315200" cy="365760"/>
          </a:xfrm>
          <a:prstGeom prst="rect">
            <a:avLst/>
          </a:prstGeom>
          <a:noFill/>
        </p:spPr>
        <p:txBody>
          <a:bodyPr wrap="square">
            <a:spAutoFit/>
          </a:bodyPr>
          <a:lstStyle/>
          <a:p>
            <a:pPr>
              <a:defRPr sz="950" b="1">
                <a:solidFill>
                  <a:srgbClr val="38BDF8"/>
                </a:solidFill>
              </a:defRPr>
            </a:pPr>
            <a:r>
              <a:t>TASK 2 • PRIMARY PERSONA  •  AARAV MEHTA • 28 YRS • SOFTWARE ENGINEER • BENGALURU</a:t>
            </a:r>
          </a:p>
        </p:txBody>
      </p:sp>
      <p:sp>
        <p:nvSpPr>
          <p:cNvPr id="5" name="TextBox 4"/>
          <p:cNvSpPr txBox="1"/>
          <p:nvPr/>
        </p:nvSpPr>
        <p:spPr>
          <a:xfrm>
            <a:off x="731520" y="777240"/>
            <a:ext cx="10728655" cy="1005840"/>
          </a:xfrm>
          <a:prstGeom prst="rect">
            <a:avLst/>
          </a:prstGeom>
          <a:noFill/>
        </p:spPr>
        <p:txBody>
          <a:bodyPr wrap="square">
            <a:spAutoFit/>
          </a:bodyPr>
          <a:lstStyle/>
          <a:p>
            <a:pPr>
              <a:defRPr sz="2400" b="1">
                <a:solidFill>
                  <a:srgbClr val="F8FAFC"/>
                </a:solidFill>
              </a:defRPr>
            </a:pPr>
            <a:r>
              <a:t>Primary User Persona: Aarav Mehta</a:t>
            </a:r>
          </a:p>
          <a:p>
            <a:pPr>
              <a:spcBef>
                <a:spcPts val="300"/>
              </a:spcBef>
              <a:defRPr sz="1200">
                <a:solidFill>
                  <a:srgbClr val="94A3B8"/>
                </a:solidFill>
              </a:defRPr>
            </a:pPr>
            <a:r>
              <a:t>Task 2: Detailed Behavioral &amp; Scenario Modeling</a:t>
            </a:r>
          </a:p>
        </p:txBody>
      </p:sp>
      <p:sp>
        <p:nvSpPr>
          <p:cNvPr id="6" name="Rounded Rectangle 5"/>
          <p:cNvSpPr/>
          <p:nvPr/>
        </p:nvSpPr>
        <p:spPr>
          <a:xfrm>
            <a:off x="731520"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Key Technical &amp; Methodological Highlights</a:t>
            </a:r>
          </a:p>
          <a:p>
            <a:pPr>
              <a:spcBef>
                <a:spcPts val="800"/>
              </a:spcBef>
              <a:defRPr sz="1050">
                <a:solidFill>
                  <a:srgbClr val="F8FAFC"/>
                </a:solidFill>
              </a:defRPr>
            </a:pPr>
            <a:r>
              <a:t>•  Quote: 'I want to invest my monthly savings in great Indian companies, but I don't have hours to read 80-page balance sheets.'</a:t>
            </a:r>
          </a:p>
          <a:p>
            <a:pPr>
              <a:spcBef>
                <a:spcPts val="800"/>
              </a:spcBef>
              <a:defRPr sz="1050">
                <a:solidFill>
                  <a:srgbClr val="F8FAFC"/>
                </a:solidFill>
              </a:defRPr>
            </a:pPr>
            <a:r>
              <a:t>•  Profile: Tech-savvy, 1.5 yrs investing experience, ₹4.5 Lakhs portfolio in SIPs and large-cap equities.</a:t>
            </a:r>
          </a:p>
          <a:p>
            <a:pPr>
              <a:spcBef>
                <a:spcPts val="800"/>
              </a:spcBef>
              <a:defRPr sz="1050">
                <a:solidFill>
                  <a:srgbClr val="F8FAFC"/>
                </a:solidFill>
              </a:defRPr>
            </a:pPr>
            <a:r>
              <a:t>•  Core Motivations: Evidence-based investing in zero-debt companies with strong moats; long-term compounding.</a:t>
            </a:r>
          </a:p>
        </p:txBody>
      </p:sp>
      <p:sp>
        <p:nvSpPr>
          <p:cNvPr id="7" name="Rounded Rectangle 6"/>
          <p:cNvSpPr/>
          <p:nvPr/>
        </p:nvSpPr>
        <p:spPr>
          <a:xfrm>
            <a:off x="6227064"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defRPr>
            </a:pPr>
            <a:r>
              <a:t>Architecture &amp; Implementation Evidence</a:t>
            </a:r>
          </a:p>
          <a:p>
            <a:pPr>
              <a:spcBef>
                <a:spcPts val="800"/>
              </a:spcBef>
              <a:defRPr sz="1050">
                <a:solidFill>
                  <a:srgbClr val="F8FAFC"/>
                </a:solidFill>
              </a:defRPr>
            </a:pPr>
            <a:r>
              <a:t>•  Key Frustrations: Westernized currency metrics ($/Millions), hype-driven stock tips on social media.</a:t>
            </a:r>
          </a:p>
          <a:p>
            <a:pPr>
              <a:spcBef>
                <a:spcPts val="800"/>
              </a:spcBef>
              <a:defRPr sz="1050">
                <a:solidFill>
                  <a:srgbClr val="F8FAFC"/>
                </a:solidFill>
              </a:defRPr>
            </a:pPr>
            <a:r>
              <a:t>•  Scenario of Use: In a 15-min lunch break, searches INFY, checks the 8/10 health score, confirms fair valuation, and saves to watchlist.</a:t>
            </a:r>
          </a:p>
          <a:p>
            <a:pPr>
              <a:spcBef>
                <a:spcPts val="1400"/>
              </a:spcBef>
              <a:defRPr sz="950" i="1">
                <a:solidFill>
                  <a:srgbClr val="94A3B8"/>
                </a:solidFill>
              </a:defRPr>
            </a:pPr>
            <a:r>
              <a:t>Voiceover Narration Summary:</a:t>
            </a:r>
            <a:br/>
            <a:r>
              <a:t>"Here is our primary user persona: Aarav Mehta, a 28-year-old software engineer living in Bengaluru. Aarav is highly tech-savvy and transitioned from fixed deposits to equ..."</a:t>
            </a:r>
          </a:p>
        </p:txBody>
      </p:sp>
      <p:sp>
        <p:nvSpPr>
          <p:cNvPr id="8" name="TextBox 7"/>
          <p:cNvSpPr txBox="1"/>
          <p:nvPr/>
        </p:nvSpPr>
        <p:spPr>
          <a:xfrm>
            <a:off x="731520" y="6217920"/>
            <a:ext cx="10728655" cy="365760"/>
          </a:xfrm>
          <a:prstGeom prst="rect">
            <a:avLst/>
          </a:prstGeom>
          <a:noFill/>
        </p:spPr>
        <p:txBody>
          <a:bodyPr wrap="none">
            <a:spAutoFit/>
          </a:bodyPr>
          <a:lstStyle/>
          <a:p>
            <a:pPr>
              <a:defRPr sz="800">
                <a:solidFill>
                  <a:srgbClr val="94A3B8"/>
                </a:solidFill>
              </a:defRPr>
            </a:pPr>
            <a:r>
              <a:t>Dalal Street Pulse  |  Slide 5 of 12  |  AI-Receptive Mini-Project Presentation  |  Audio Voiceover Included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7315200" cy="365760"/>
          </a:xfrm>
          <a:prstGeom prst="rect">
            <a:avLst/>
          </a:prstGeom>
          <a:noFill/>
        </p:spPr>
        <p:txBody>
          <a:bodyPr wrap="square">
            <a:spAutoFit/>
          </a:bodyPr>
          <a:lstStyle/>
          <a:p>
            <a:pPr>
              <a:defRPr sz="950" b="1">
                <a:solidFill>
                  <a:srgbClr val="38BDF8"/>
                </a:solidFill>
              </a:defRPr>
            </a:pPr>
            <a:r>
              <a:t>TASK 3 • HCD FOUNDATIONS  •  NEXT.JS 16 + TYPESCRIPT + TAILWIND V4 + MONGODB + INNGEST</a:t>
            </a:r>
          </a:p>
        </p:txBody>
      </p:sp>
      <p:sp>
        <p:nvSpPr>
          <p:cNvPr id="5" name="TextBox 4"/>
          <p:cNvSpPr txBox="1"/>
          <p:nvPr/>
        </p:nvSpPr>
        <p:spPr>
          <a:xfrm>
            <a:off x="731520" y="777240"/>
            <a:ext cx="10728655" cy="1005840"/>
          </a:xfrm>
          <a:prstGeom prst="rect">
            <a:avLst/>
          </a:prstGeom>
          <a:noFill/>
        </p:spPr>
        <p:txBody>
          <a:bodyPr wrap="square">
            <a:spAutoFit/>
          </a:bodyPr>
          <a:lstStyle/>
          <a:p>
            <a:pPr>
              <a:defRPr sz="2400" b="1">
                <a:solidFill>
                  <a:srgbClr val="F8FAFC"/>
                </a:solidFill>
              </a:defRPr>
            </a:pPr>
            <a:r>
              <a:t>HCD Heuristics &amp; System Architecture</a:t>
            </a:r>
          </a:p>
          <a:p>
            <a:pPr>
              <a:spcBef>
                <a:spcPts val="300"/>
              </a:spcBef>
              <a:defRPr sz="1200">
                <a:solidFill>
                  <a:srgbClr val="94A3B8"/>
                </a:solidFill>
              </a:defRPr>
            </a:pPr>
            <a:r>
              <a:t>Task 3: Engineering for Low Cognitive Load &amp; Domestic Mental Models</a:t>
            </a:r>
          </a:p>
        </p:txBody>
      </p:sp>
      <p:sp>
        <p:nvSpPr>
          <p:cNvPr id="6" name="Rounded Rectangle 5"/>
          <p:cNvSpPr/>
          <p:nvPr/>
        </p:nvSpPr>
        <p:spPr>
          <a:xfrm>
            <a:off x="731520"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Key Technical &amp; Methodological Highlights</a:t>
            </a:r>
          </a:p>
          <a:p>
            <a:pPr>
              <a:spcBef>
                <a:spcPts val="800"/>
              </a:spcBef>
              <a:defRPr sz="1050">
                <a:solidFill>
                  <a:srgbClr val="F8FAFC"/>
                </a:solidFill>
              </a:defRPr>
            </a:pPr>
            <a:r>
              <a:t>•  Human-Centered Heuristics: Progressive disclosure, recognition over recall, and dark-mode visual ergonomics.</a:t>
            </a:r>
          </a:p>
          <a:p>
            <a:pPr>
              <a:spcBef>
                <a:spcPts val="800"/>
              </a:spcBef>
              <a:defRPr sz="1050">
                <a:solidFill>
                  <a:srgbClr val="F8FAFC"/>
                </a:solidFill>
              </a:defRPr>
            </a:pPr>
            <a:r>
              <a:t>•  ISIN Entity Reconciliation: Unifies NSE symbols and BSE Scrip codes under canonical 12-character ISIN keys.</a:t>
            </a:r>
          </a:p>
          <a:p>
            <a:pPr>
              <a:spcBef>
                <a:spcPts val="800"/>
              </a:spcBef>
              <a:defRPr sz="1050">
                <a:solidFill>
                  <a:srgbClr val="F8FAFC"/>
                </a:solidFill>
              </a:defRPr>
            </a:pPr>
            <a:r>
              <a:t>•  Fullstack Foundation: Next.js 16 App Router with Turbopack for SSR sub-second streaming.</a:t>
            </a:r>
          </a:p>
        </p:txBody>
      </p:sp>
      <p:sp>
        <p:nvSpPr>
          <p:cNvPr id="7" name="Rounded Rectangle 6"/>
          <p:cNvSpPr/>
          <p:nvPr/>
        </p:nvSpPr>
        <p:spPr>
          <a:xfrm>
            <a:off x="6227064"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defRPr>
            </a:pPr>
            <a:r>
              <a:t>Architecture &amp; Implementation Evidence</a:t>
            </a:r>
          </a:p>
          <a:p>
            <a:pPr>
              <a:spcBef>
                <a:spcPts val="800"/>
              </a:spcBef>
              <a:defRPr sz="1050">
                <a:solidFill>
                  <a:srgbClr val="F8FAFC"/>
                </a:solidFill>
              </a:defRPr>
            </a:pPr>
            <a:r>
              <a:t>•  Resilient Offline Store: Built-in in-memory fallback in lib/db/store.ts ensures zero downtime in dev mode.</a:t>
            </a:r>
          </a:p>
          <a:p>
            <a:pPr>
              <a:spcBef>
                <a:spcPts val="1400"/>
              </a:spcBef>
              <a:defRPr sz="950" i="1">
                <a:solidFill>
                  <a:srgbClr val="94A3B8"/>
                </a:solidFill>
              </a:defRPr>
            </a:pPr>
            <a:r>
              <a:t>Voiceover Narration Summary:</a:t>
            </a:r>
            <a:br/>
            <a:r>
              <a:t>"In Task 3, we implemented Human-Centered Design principles to eliminate cognitive overload. We followed progressive disclosure, standardized visual status badges, and pri..."</a:t>
            </a:r>
          </a:p>
        </p:txBody>
      </p:sp>
      <p:sp>
        <p:nvSpPr>
          <p:cNvPr id="8" name="TextBox 7"/>
          <p:cNvSpPr txBox="1"/>
          <p:nvPr/>
        </p:nvSpPr>
        <p:spPr>
          <a:xfrm>
            <a:off x="731520" y="6217920"/>
            <a:ext cx="10728655" cy="365760"/>
          </a:xfrm>
          <a:prstGeom prst="rect">
            <a:avLst/>
          </a:prstGeom>
          <a:noFill/>
        </p:spPr>
        <p:txBody>
          <a:bodyPr wrap="none">
            <a:spAutoFit/>
          </a:bodyPr>
          <a:lstStyle/>
          <a:p>
            <a:pPr>
              <a:defRPr sz="800">
                <a:solidFill>
                  <a:srgbClr val="94A3B8"/>
                </a:solidFill>
              </a:defRPr>
            </a:pPr>
            <a:r>
              <a:t>Dalal Street Pulse  |  Slide 6 of 12  |  AI-Receptive Mini-Project Presentation  |  Audio Voiceover Included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7315200" cy="365760"/>
          </a:xfrm>
          <a:prstGeom prst="rect">
            <a:avLst/>
          </a:prstGeom>
          <a:noFill/>
        </p:spPr>
        <p:txBody>
          <a:bodyPr wrap="square">
            <a:spAutoFit/>
          </a:bodyPr>
          <a:lstStyle/>
          <a:p>
            <a:pPr>
              <a:defRPr sz="950" b="1">
                <a:solidFill>
                  <a:srgbClr val="38BDF8"/>
                </a:solidFill>
              </a:defRPr>
            </a:pPr>
            <a:r>
              <a:t>TASK 3 • SCREEN 1 WALKTHROUGH  •  LIVE MARKET PULSE &amp; TRADING SESSION STATE MACHINE</a:t>
            </a:r>
          </a:p>
        </p:txBody>
      </p:sp>
      <p:sp>
        <p:nvSpPr>
          <p:cNvPr id="5" name="TextBox 4"/>
          <p:cNvSpPr txBox="1"/>
          <p:nvPr/>
        </p:nvSpPr>
        <p:spPr>
          <a:xfrm>
            <a:off x="731520" y="777240"/>
            <a:ext cx="10728655" cy="1005840"/>
          </a:xfrm>
          <a:prstGeom prst="rect">
            <a:avLst/>
          </a:prstGeom>
          <a:noFill/>
        </p:spPr>
        <p:txBody>
          <a:bodyPr wrap="square">
            <a:spAutoFit/>
          </a:bodyPr>
          <a:lstStyle/>
          <a:p>
            <a:pPr>
              <a:defRPr sz="2400" b="1">
                <a:solidFill>
                  <a:srgbClr val="F8FAFC"/>
                </a:solidFill>
              </a:defRPr>
            </a:pPr>
            <a:r>
              <a:t>Screen 1: Executive Market Overview</a:t>
            </a:r>
          </a:p>
          <a:p>
            <a:pPr>
              <a:spcBef>
                <a:spcPts val="300"/>
              </a:spcBef>
              <a:defRPr sz="1200">
                <a:solidFill>
                  <a:srgbClr val="94A3B8"/>
                </a:solidFill>
              </a:defRPr>
            </a:pPr>
            <a:r>
              <a:t>Task 3: Real-Time Benchmark Command Center (`/` and `/markets`)</a:t>
            </a:r>
          </a:p>
        </p:txBody>
      </p:sp>
      <p:sp>
        <p:nvSpPr>
          <p:cNvPr id="6" name="Rounded Rectangle 5"/>
          <p:cNvSpPr/>
          <p:nvPr/>
        </p:nvSpPr>
        <p:spPr>
          <a:xfrm>
            <a:off x="731520"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Key Technical &amp; Methodological Highlights</a:t>
            </a:r>
          </a:p>
          <a:p>
            <a:pPr>
              <a:spcBef>
                <a:spcPts val="800"/>
              </a:spcBef>
              <a:defRPr sz="1050">
                <a:solidFill>
                  <a:srgbClr val="F8FAFC"/>
                </a:solidFill>
              </a:defRPr>
            </a:pPr>
            <a:r>
              <a:t>•  Live Benchmark Tickers: NIFTY 50, SENSEX, NIFTY Bank, NIFTY IT with real-time percentage changes.</a:t>
            </a:r>
          </a:p>
          <a:p>
            <a:pPr>
              <a:spcBef>
                <a:spcPts val="800"/>
              </a:spcBef>
              <a:defRPr sz="1050">
                <a:solidFill>
                  <a:srgbClr val="F8FAFC"/>
                </a:solidFill>
              </a:defRPr>
            </a:pPr>
            <a:r>
              <a:t>•  IST Trading Clock: Live countdown state machine (Pre-open 09:00, Regular 09:15, Post-closing 15:30).</a:t>
            </a:r>
          </a:p>
          <a:p>
            <a:pPr>
              <a:spcBef>
                <a:spcPts val="800"/>
              </a:spcBef>
              <a:defRPr sz="1050">
                <a:solidFill>
                  <a:srgbClr val="F8FAFC"/>
                </a:solidFill>
              </a:defRPr>
            </a:pPr>
            <a:r>
              <a:t>•  Institutional Flow Radar: Daily net cash investments by FIIs and DIIs to detect smart-money direction.</a:t>
            </a:r>
          </a:p>
        </p:txBody>
      </p:sp>
      <p:sp>
        <p:nvSpPr>
          <p:cNvPr id="7" name="Rounded Rectangle 6"/>
          <p:cNvSpPr/>
          <p:nvPr/>
        </p:nvSpPr>
        <p:spPr>
          <a:xfrm>
            <a:off x="6227064"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defRPr>
            </a:pPr>
            <a:r>
              <a:t>Architecture &amp; Implementation Evidence</a:t>
            </a:r>
          </a:p>
          <a:p>
            <a:pPr>
              <a:spcBef>
                <a:spcPts val="800"/>
              </a:spcBef>
              <a:defRPr sz="1050">
                <a:solidFill>
                  <a:srgbClr val="F8FAFC"/>
                </a:solidFill>
              </a:defRPr>
            </a:pPr>
            <a:r>
              <a:t>•  Interactive Heatmap: Visual sector gainers and losers; global debounced search modal accessible via Ctrl+K.</a:t>
            </a:r>
          </a:p>
          <a:p>
            <a:pPr>
              <a:spcBef>
                <a:spcPts val="1400"/>
              </a:spcBef>
              <a:defRPr sz="950" i="1">
                <a:solidFill>
                  <a:srgbClr val="94A3B8"/>
                </a:solidFill>
              </a:defRPr>
            </a:pPr>
            <a:r>
              <a:t>Voiceover Narration Summary:</a:t>
            </a:r>
            <a:br/>
            <a:r>
              <a:t>"Let us examine Screen 1: our Executive Market Dashboard. When a user lands on the homepage, they immediately see live ticker tapes for NIFTY 50, SENSEX, NIFTY Bank, and N..."</a:t>
            </a:r>
          </a:p>
        </p:txBody>
      </p:sp>
      <p:sp>
        <p:nvSpPr>
          <p:cNvPr id="8" name="TextBox 7"/>
          <p:cNvSpPr txBox="1"/>
          <p:nvPr/>
        </p:nvSpPr>
        <p:spPr>
          <a:xfrm>
            <a:off x="731520" y="6217920"/>
            <a:ext cx="10728655" cy="365760"/>
          </a:xfrm>
          <a:prstGeom prst="rect">
            <a:avLst/>
          </a:prstGeom>
          <a:noFill/>
        </p:spPr>
        <p:txBody>
          <a:bodyPr wrap="none">
            <a:spAutoFit/>
          </a:bodyPr>
          <a:lstStyle/>
          <a:p>
            <a:pPr>
              <a:defRPr sz="800">
                <a:solidFill>
                  <a:srgbClr val="94A3B8"/>
                </a:solidFill>
              </a:defRPr>
            </a:pPr>
            <a:r>
              <a:t>Dalal Street Pulse  |  Slide 7 of 12  |  AI-Receptive Mini-Project Presentation  |  Audio Voiceover Included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7315200" cy="365760"/>
          </a:xfrm>
          <a:prstGeom prst="rect">
            <a:avLst/>
          </a:prstGeom>
          <a:noFill/>
        </p:spPr>
        <p:txBody>
          <a:bodyPr wrap="square">
            <a:spAutoFit/>
          </a:bodyPr>
          <a:lstStyle/>
          <a:p>
            <a:pPr>
              <a:defRPr sz="950" b="1">
                <a:solidFill>
                  <a:srgbClr val="38BDF8"/>
                </a:solidFill>
              </a:defRPr>
            </a:pPr>
            <a:r>
              <a:t>TASK 3 • SCREEN 2 WALKTHROUGH  •  INTERACTIVE OHLCV VISUALS &amp; COMPREHENSIVE FUNDAMENTALS</a:t>
            </a:r>
          </a:p>
        </p:txBody>
      </p:sp>
      <p:sp>
        <p:nvSpPr>
          <p:cNvPr id="5" name="TextBox 4"/>
          <p:cNvSpPr txBox="1"/>
          <p:nvPr/>
        </p:nvSpPr>
        <p:spPr>
          <a:xfrm>
            <a:off x="731520" y="777240"/>
            <a:ext cx="10728655" cy="1005840"/>
          </a:xfrm>
          <a:prstGeom prst="rect">
            <a:avLst/>
          </a:prstGeom>
          <a:noFill/>
        </p:spPr>
        <p:txBody>
          <a:bodyPr wrap="square">
            <a:spAutoFit/>
          </a:bodyPr>
          <a:lstStyle/>
          <a:p>
            <a:pPr>
              <a:defRPr sz="2400" b="1">
                <a:solidFill>
                  <a:srgbClr val="F8FAFC"/>
                </a:solidFill>
              </a:defRPr>
            </a:pPr>
            <a:r>
              <a:t>Screen 2: In-Depth Stock Terminal</a:t>
            </a:r>
          </a:p>
          <a:p>
            <a:pPr>
              <a:spcBef>
                <a:spcPts val="300"/>
              </a:spcBef>
              <a:defRPr sz="1200">
                <a:solidFill>
                  <a:srgbClr val="94A3B8"/>
                </a:solidFill>
              </a:defRPr>
            </a:pPr>
            <a:r>
              <a:t>Task 3: Candlestick Analytics &amp; Valuation Terminal (`/stocks/[symbol]`)</a:t>
            </a:r>
          </a:p>
        </p:txBody>
      </p:sp>
      <p:sp>
        <p:nvSpPr>
          <p:cNvPr id="6" name="Rounded Rectangle 5"/>
          <p:cNvSpPr/>
          <p:nvPr/>
        </p:nvSpPr>
        <p:spPr>
          <a:xfrm>
            <a:off x="731520"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Key Technical &amp; Methodological Highlights</a:t>
            </a:r>
          </a:p>
          <a:p>
            <a:pPr>
              <a:spcBef>
                <a:spcPts val="800"/>
              </a:spcBef>
              <a:defRPr sz="1050">
                <a:solidFill>
                  <a:srgbClr val="F8FAFC"/>
                </a:solidFill>
              </a:defRPr>
            </a:pPr>
            <a:r>
              <a:t>•  Interactive Charts: Candlestick OHLC and Area views with volume histograms and timeframes (1D to 5Y).</a:t>
            </a:r>
          </a:p>
          <a:p>
            <a:pPr>
              <a:spcBef>
                <a:spcPts val="800"/>
              </a:spcBef>
              <a:defRPr sz="1050">
                <a:solidFill>
                  <a:srgbClr val="F8FAFC"/>
                </a:solidFill>
              </a:defRPr>
            </a:pPr>
            <a:r>
              <a:t>•  10+ Valuation Multiples: P/E vs Industry P/E, ROCE, ROE, Debt-to-Equity, and 52-Week High/Low range.</a:t>
            </a:r>
          </a:p>
          <a:p>
            <a:pPr>
              <a:spcBef>
                <a:spcPts val="800"/>
              </a:spcBef>
              <a:defRPr sz="1050">
                <a:solidFill>
                  <a:srgbClr val="F8FAFC"/>
                </a:solidFill>
              </a:defRPr>
            </a:pPr>
            <a:r>
              <a:t>•  Financial Statements: Audited quarterly and annual P&amp;L, Balance Sheet, and Cash Flow in ₹ Crores.</a:t>
            </a:r>
          </a:p>
        </p:txBody>
      </p:sp>
      <p:sp>
        <p:nvSpPr>
          <p:cNvPr id="7" name="Rounded Rectangle 6"/>
          <p:cNvSpPr/>
          <p:nvPr/>
        </p:nvSpPr>
        <p:spPr>
          <a:xfrm>
            <a:off x="6227064"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defRPr>
            </a:pPr>
            <a:r>
              <a:t>Architecture &amp; Implementation Evidence</a:t>
            </a:r>
          </a:p>
          <a:p>
            <a:pPr>
              <a:spcBef>
                <a:spcPts val="800"/>
              </a:spcBef>
              <a:defRPr sz="1050">
                <a:solidFill>
                  <a:srgbClr val="F8FAFC"/>
                </a:solidFill>
              </a:defRPr>
            </a:pPr>
            <a:r>
              <a:t>•  1-Click User Actions: Instant 'Add to Watchlist' and 'Create Price Alert' triggers directly on the header.</a:t>
            </a:r>
          </a:p>
          <a:p>
            <a:pPr>
              <a:spcBef>
                <a:spcPts val="1400"/>
              </a:spcBef>
              <a:defRPr sz="950" i="1">
                <a:solidFill>
                  <a:srgbClr val="94A3B8"/>
                </a:solidFill>
              </a:defRPr>
            </a:pPr>
            <a:r>
              <a:t>Voiceover Narration Summary:</a:t>
            </a:r>
            <a:br/>
            <a:r>
              <a:t>"Screen 2 is our flagship In-Depth Stock Terminal. Here, we present high-performance Candlestick OHLC and Area charts with volume bars across multiple timeframes, from 1 D..."</a:t>
            </a:r>
          </a:p>
        </p:txBody>
      </p:sp>
      <p:sp>
        <p:nvSpPr>
          <p:cNvPr id="8" name="TextBox 7"/>
          <p:cNvSpPr txBox="1"/>
          <p:nvPr/>
        </p:nvSpPr>
        <p:spPr>
          <a:xfrm>
            <a:off x="731520" y="6217920"/>
            <a:ext cx="10728655" cy="365760"/>
          </a:xfrm>
          <a:prstGeom prst="rect">
            <a:avLst/>
          </a:prstGeom>
          <a:noFill/>
        </p:spPr>
        <p:txBody>
          <a:bodyPr wrap="none">
            <a:spAutoFit/>
          </a:bodyPr>
          <a:lstStyle/>
          <a:p>
            <a:pPr>
              <a:defRPr sz="800">
                <a:solidFill>
                  <a:srgbClr val="94A3B8"/>
                </a:solidFill>
              </a:defRPr>
            </a:pPr>
            <a:r>
              <a:t>Dalal Street Pulse  |  Slide 8 of 12  |  AI-Receptive Mini-Project Presentation  |  Audio Voiceover Included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7315200" cy="365760"/>
          </a:xfrm>
          <a:prstGeom prst="rect">
            <a:avLst/>
          </a:prstGeom>
          <a:noFill/>
        </p:spPr>
        <p:txBody>
          <a:bodyPr wrap="square">
            <a:spAutoFit/>
          </a:bodyPr>
          <a:lstStyle/>
          <a:p>
            <a:pPr>
              <a:defRPr sz="950" b="1">
                <a:solidFill>
                  <a:srgbClr val="38BDF8"/>
                </a:solidFill>
              </a:defRPr>
            </a:pPr>
            <a:r>
              <a:t>TASK 3 • SCREEN 3 &amp; FEEDBACK  •  OBJECTIVE VERDICTS &amp; HIGH-VISIBILITY SYSTEM FEEDBACK</a:t>
            </a:r>
          </a:p>
        </p:txBody>
      </p:sp>
      <p:sp>
        <p:nvSpPr>
          <p:cNvPr id="5" name="TextBox 4"/>
          <p:cNvSpPr txBox="1"/>
          <p:nvPr/>
        </p:nvSpPr>
        <p:spPr>
          <a:xfrm>
            <a:off x="731520" y="777240"/>
            <a:ext cx="10728655" cy="1005840"/>
          </a:xfrm>
          <a:prstGeom prst="rect">
            <a:avLst/>
          </a:prstGeom>
          <a:noFill/>
        </p:spPr>
        <p:txBody>
          <a:bodyPr wrap="square">
            <a:spAutoFit/>
          </a:bodyPr>
          <a:lstStyle/>
          <a:p>
            <a:pPr>
              <a:defRPr sz="2400" b="1">
                <a:solidFill>
                  <a:srgbClr val="F8FAFC"/>
                </a:solidFill>
              </a:defRPr>
            </a:pPr>
            <a:r>
              <a:t>Screen 3: Grounded AI Intelligence</a:t>
            </a:r>
          </a:p>
          <a:p>
            <a:pPr>
              <a:spcBef>
                <a:spcPts val="300"/>
              </a:spcBef>
              <a:defRPr sz="1200">
                <a:solidFill>
                  <a:srgbClr val="94A3B8"/>
                </a:solidFill>
              </a:defRPr>
            </a:pPr>
            <a:r>
              <a:t>Task 3: AI Valuation Verdict &amp; Automated Post-Market Briefing (`/briefing`)</a:t>
            </a:r>
          </a:p>
        </p:txBody>
      </p:sp>
      <p:sp>
        <p:nvSpPr>
          <p:cNvPr id="6" name="Rounded Rectangle 5"/>
          <p:cNvSpPr/>
          <p:nvPr/>
        </p:nvSpPr>
        <p:spPr>
          <a:xfrm>
            <a:off x="731520"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Key Technical &amp; Methodological Highlights</a:t>
            </a:r>
          </a:p>
          <a:p>
            <a:pPr>
              <a:spcBef>
                <a:spcPts val="800"/>
              </a:spcBef>
              <a:defRPr sz="1050">
                <a:solidFill>
                  <a:srgbClr val="F8FAFC"/>
                </a:solidFill>
              </a:defRPr>
            </a:pPr>
            <a:r>
              <a:t>•  Fundamental Score Gauge: Prominent 1–10 visual health score (e.g. 8.5/10) with 'Undervalued' verdict badge.</a:t>
            </a:r>
          </a:p>
          <a:p>
            <a:pPr>
              <a:spcBef>
                <a:spcPts val="800"/>
              </a:spcBef>
              <a:defRPr sz="1050">
                <a:solidFill>
                  <a:srgbClr val="F8FAFC"/>
                </a:solidFill>
              </a:defRPr>
            </a:pPr>
            <a:r>
              <a:t>•  Synthesized Investment Thesis: Concise bullet points highlighting balance sheet solvency and institutional holdings.</a:t>
            </a:r>
          </a:p>
          <a:p>
            <a:pPr>
              <a:spcBef>
                <a:spcPts val="800"/>
              </a:spcBef>
              <a:defRPr sz="1050">
                <a:solidFill>
                  <a:srgbClr val="F8FAFC"/>
                </a:solidFill>
              </a:defRPr>
            </a:pPr>
            <a:r>
              <a:t>•  User Interaction Feedback: Toast notifications, skeleton loading shimmers, and status pulse indicators.</a:t>
            </a:r>
          </a:p>
        </p:txBody>
      </p:sp>
      <p:sp>
        <p:nvSpPr>
          <p:cNvPr id="7" name="Rounded Rectangle 6"/>
          <p:cNvSpPr/>
          <p:nvPr/>
        </p:nvSpPr>
        <p:spPr>
          <a:xfrm>
            <a:off x="6227064"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defRPr>
            </a:pPr>
            <a:r>
              <a:t>Architecture &amp; Implementation Evidence</a:t>
            </a:r>
          </a:p>
          <a:p>
            <a:pPr>
              <a:spcBef>
                <a:spcPts val="800"/>
              </a:spcBef>
              <a:defRPr sz="1050">
                <a:solidFill>
                  <a:srgbClr val="F8FAFC"/>
                </a:solidFill>
              </a:defRPr>
            </a:pPr>
            <a:r>
              <a:t>•  Statutory Compliance Pill: Explicit SEBI non-advisory educational disclaimers rendered on all AI insights.</a:t>
            </a:r>
          </a:p>
          <a:p>
            <a:pPr>
              <a:spcBef>
                <a:spcPts val="1400"/>
              </a:spcBef>
              <a:defRPr sz="950" i="1">
                <a:solidFill>
                  <a:srgbClr val="94A3B8"/>
                </a:solidFill>
              </a:defRPr>
            </a:pPr>
            <a:r>
              <a:t>Voiceover Narration Summary:</a:t>
            </a:r>
            <a:br/>
            <a:r>
              <a:t>"Screen 3 showcases our Grounded AI Intelligence and Daily Post-Market Briefing. Our AI Copilot evaluates fundamental durability, assigning a prominent 1 to 10 Health Scor..."</a:t>
            </a:r>
          </a:p>
        </p:txBody>
      </p:sp>
      <p:sp>
        <p:nvSpPr>
          <p:cNvPr id="8" name="TextBox 7"/>
          <p:cNvSpPr txBox="1"/>
          <p:nvPr/>
        </p:nvSpPr>
        <p:spPr>
          <a:xfrm>
            <a:off x="731520" y="6217920"/>
            <a:ext cx="10728655" cy="365760"/>
          </a:xfrm>
          <a:prstGeom prst="rect">
            <a:avLst/>
          </a:prstGeom>
          <a:noFill/>
        </p:spPr>
        <p:txBody>
          <a:bodyPr wrap="none">
            <a:spAutoFit/>
          </a:bodyPr>
          <a:lstStyle/>
          <a:p>
            <a:pPr>
              <a:defRPr sz="800">
                <a:solidFill>
                  <a:srgbClr val="94A3B8"/>
                </a:solidFill>
              </a:defRPr>
            </a:pPr>
            <a:r>
              <a:t>Dalal Street Pulse  |  Slide 9 of 12  |  AI-Receptive Mini-Project Presentation  |  Audio Voiceover Included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7315200" cy="365760"/>
          </a:xfrm>
          <a:prstGeom prst="rect">
            <a:avLst/>
          </a:prstGeom>
          <a:noFill/>
        </p:spPr>
        <p:txBody>
          <a:bodyPr wrap="square">
            <a:spAutoFit/>
          </a:bodyPr>
          <a:lstStyle/>
          <a:p>
            <a:pPr>
              <a:defRPr sz="950" b="1">
                <a:solidFill>
                  <a:srgbClr val="38BDF8"/>
                </a:solidFill>
              </a:defRPr>
            </a:pPr>
            <a:r>
              <a:t>TASK 4 • AI-ASSISTED ENGINEERING  •  REQUIREMENT GENERATION • UI DESIGN • CODE SYNTHESIS • VITEST TESTING</a:t>
            </a:r>
          </a:p>
        </p:txBody>
      </p:sp>
      <p:sp>
        <p:nvSpPr>
          <p:cNvPr id="5" name="TextBox 4"/>
          <p:cNvSpPr txBox="1"/>
          <p:nvPr/>
        </p:nvSpPr>
        <p:spPr>
          <a:xfrm>
            <a:off x="731520" y="777240"/>
            <a:ext cx="10728655" cy="1005840"/>
          </a:xfrm>
          <a:prstGeom prst="rect">
            <a:avLst/>
          </a:prstGeom>
          <a:noFill/>
        </p:spPr>
        <p:txBody>
          <a:bodyPr wrap="square">
            <a:spAutoFit/>
          </a:bodyPr>
          <a:lstStyle/>
          <a:p>
            <a:pPr>
              <a:defRPr sz="2400" b="1">
                <a:solidFill>
                  <a:srgbClr val="F8FAFC"/>
                </a:solidFill>
              </a:defRPr>
            </a:pPr>
            <a:r>
              <a:t>AI-Assisted Development Journey</a:t>
            </a:r>
          </a:p>
          <a:p>
            <a:pPr>
              <a:spcBef>
                <a:spcPts val="300"/>
              </a:spcBef>
              <a:defRPr sz="1200">
                <a:solidFill>
                  <a:srgbClr val="94A3B8"/>
                </a:solidFill>
              </a:defRPr>
            </a:pPr>
            <a:r>
              <a:t>Task 4: Documenting AI Tools Across 4 Core Engineering Activities</a:t>
            </a:r>
          </a:p>
        </p:txBody>
      </p:sp>
      <p:sp>
        <p:nvSpPr>
          <p:cNvPr id="6" name="Rounded Rectangle 5"/>
          <p:cNvSpPr/>
          <p:nvPr/>
        </p:nvSpPr>
        <p:spPr>
          <a:xfrm>
            <a:off x="731520"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Key Technical &amp; Methodological Highlights</a:t>
            </a:r>
          </a:p>
          <a:p>
            <a:pPr>
              <a:spcBef>
                <a:spcPts val="800"/>
              </a:spcBef>
              <a:defRPr sz="1050">
                <a:solidFill>
                  <a:srgbClr val="F8FAFC"/>
                </a:solidFill>
              </a:defRPr>
            </a:pPr>
            <a:r>
              <a:t>•  Activity 1 - Requirements: AI formulated the deterministic NSE session state transitions and holiday calendar.</a:t>
            </a:r>
          </a:p>
          <a:p>
            <a:pPr>
              <a:spcBef>
                <a:spcPts val="800"/>
              </a:spcBef>
              <a:defRPr sz="1050">
                <a:solidFill>
                  <a:srgbClr val="F8FAFC"/>
                </a:solidFill>
              </a:defRPr>
            </a:pPr>
            <a:r>
              <a:t>•  Activity 2 - UI Design: Suggested dark-mode tokens (shadcn Nova) and tabular monospace fonts for numerical data.</a:t>
            </a:r>
          </a:p>
          <a:p>
            <a:pPr>
              <a:spcBef>
                <a:spcPts val="800"/>
              </a:spcBef>
              <a:defRPr sz="1050">
                <a:solidFill>
                  <a:srgbClr val="F8FAFC"/>
                </a:solidFill>
              </a:defRPr>
            </a:pPr>
            <a:r>
              <a:t>•  Activity 3 - Code Generation: Scaffolding TypeScript models and the ISIN canonical entity reconciliation algorithm.</a:t>
            </a:r>
          </a:p>
        </p:txBody>
      </p:sp>
      <p:sp>
        <p:nvSpPr>
          <p:cNvPr id="7" name="Rounded Rectangle 6"/>
          <p:cNvSpPr/>
          <p:nvPr/>
        </p:nvSpPr>
        <p:spPr>
          <a:xfrm>
            <a:off x="6227064"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defRPr>
            </a:pPr>
            <a:r>
              <a:t>Architecture &amp; Implementation Evidence</a:t>
            </a:r>
          </a:p>
          <a:p>
            <a:pPr>
              <a:spcBef>
                <a:spcPts val="800"/>
              </a:spcBef>
              <a:defRPr sz="1050">
                <a:solidFill>
                  <a:srgbClr val="F8FAFC"/>
                </a:solidFill>
              </a:defRPr>
            </a:pPr>
            <a:r>
              <a:t>•  Activity 4 - Test-Case Generation: Vitest automated suites identified critical regex bugs with negative ₹ formatting.</a:t>
            </a:r>
          </a:p>
          <a:p>
            <a:pPr>
              <a:spcBef>
                <a:spcPts val="800"/>
              </a:spcBef>
              <a:defRPr sz="1050">
                <a:solidFill>
                  <a:srgbClr val="F8FAFC"/>
                </a:solidFill>
              </a:defRPr>
            </a:pPr>
            <a:r>
              <a:t>•  Code Artifact: Grounded valuation logic in lib/ai/index.ts guarantees zero hallucinated calculations.</a:t>
            </a:r>
          </a:p>
          <a:p>
            <a:pPr>
              <a:spcBef>
                <a:spcPts val="1400"/>
              </a:spcBef>
              <a:defRPr sz="950" i="1">
                <a:solidFill>
                  <a:srgbClr val="94A3B8"/>
                </a:solidFill>
              </a:defRPr>
            </a:pPr>
            <a:r>
              <a:t>Voiceover Narration Summary:</a:t>
            </a:r>
            <a:br/>
            <a:r>
              <a:t>"In Task 4, we documented how AI tools accelerated our software engineering lifecycle across four distinct activities. First, Requirement Generation: formulating determini..."</a:t>
            </a:r>
          </a:p>
        </p:txBody>
      </p:sp>
      <p:sp>
        <p:nvSpPr>
          <p:cNvPr id="8" name="TextBox 7"/>
          <p:cNvSpPr txBox="1"/>
          <p:nvPr/>
        </p:nvSpPr>
        <p:spPr>
          <a:xfrm>
            <a:off x="731520" y="6217920"/>
            <a:ext cx="10728655" cy="365760"/>
          </a:xfrm>
          <a:prstGeom prst="rect">
            <a:avLst/>
          </a:prstGeom>
          <a:noFill/>
        </p:spPr>
        <p:txBody>
          <a:bodyPr wrap="none">
            <a:spAutoFit/>
          </a:bodyPr>
          <a:lstStyle/>
          <a:p>
            <a:pPr>
              <a:defRPr sz="800">
                <a:solidFill>
                  <a:srgbClr val="94A3B8"/>
                </a:solidFill>
              </a:defRPr>
            </a:pPr>
            <a:r>
              <a:t>Dalal Street Pulse  |  Slide 10 of 12  |  AI-Receptive Mini-Project Presentation  |  Audio Voiceover Included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7315200" cy="365760"/>
          </a:xfrm>
          <a:prstGeom prst="rect">
            <a:avLst/>
          </a:prstGeom>
          <a:noFill/>
        </p:spPr>
        <p:txBody>
          <a:bodyPr wrap="square">
            <a:spAutoFit/>
          </a:bodyPr>
          <a:lstStyle/>
          <a:p>
            <a:pPr>
              <a:defRPr sz="950" b="1">
                <a:solidFill>
                  <a:srgbClr val="38BDF8"/>
                </a:solidFill>
              </a:defRPr>
            </a:pPr>
            <a:r>
              <a:t>STRATEGIC ROADMAP • 2026–2028+  •  FROM ANALYTICS TERMINAL TO LIVE TRADING &amp; AUTONOMOUS WEALTH AI</a:t>
            </a:r>
          </a:p>
        </p:txBody>
      </p:sp>
      <p:sp>
        <p:nvSpPr>
          <p:cNvPr id="5" name="TextBox 4"/>
          <p:cNvSpPr txBox="1"/>
          <p:nvPr/>
        </p:nvSpPr>
        <p:spPr>
          <a:xfrm>
            <a:off x="731520" y="777240"/>
            <a:ext cx="10728655" cy="1005840"/>
          </a:xfrm>
          <a:prstGeom prst="rect">
            <a:avLst/>
          </a:prstGeom>
          <a:noFill/>
        </p:spPr>
        <p:txBody>
          <a:bodyPr wrap="square">
            <a:spAutoFit/>
          </a:bodyPr>
          <a:lstStyle/>
          <a:p>
            <a:pPr>
              <a:defRPr sz="2400" b="1">
                <a:solidFill>
                  <a:srgbClr val="F8FAFC"/>
                </a:solidFill>
              </a:defRPr>
            </a:pPr>
            <a:r>
              <a:t>Multi-Year Strategic Roadmap</a:t>
            </a:r>
          </a:p>
          <a:p>
            <a:pPr>
              <a:spcBef>
                <a:spcPts val="300"/>
              </a:spcBef>
              <a:defRPr sz="1200">
                <a:solidFill>
                  <a:srgbClr val="94A3B8"/>
                </a:solidFill>
              </a:defRPr>
            </a:pPr>
            <a:r>
              <a:t>Evolving into an End-to-End Execution &amp; Derivatives Operating System</a:t>
            </a:r>
          </a:p>
        </p:txBody>
      </p:sp>
      <p:sp>
        <p:nvSpPr>
          <p:cNvPr id="6" name="Rounded Rectangle 5"/>
          <p:cNvSpPr/>
          <p:nvPr/>
        </p:nvSpPr>
        <p:spPr>
          <a:xfrm>
            <a:off x="731520"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Key Technical &amp; Methodological Highlights</a:t>
            </a:r>
          </a:p>
          <a:p>
            <a:pPr>
              <a:spcBef>
                <a:spcPts val="800"/>
              </a:spcBef>
              <a:defRPr sz="1050">
                <a:solidFill>
                  <a:srgbClr val="F8FAFC"/>
                </a:solidFill>
              </a:defRPr>
            </a:pPr>
            <a:r>
              <a:t>•  Phase 1 (Execution): 1-click broker order placement (Zerodha, Upstox, Groww) + virtual ₹10 Lakh paper trading.</a:t>
            </a:r>
          </a:p>
          <a:p>
            <a:pPr>
              <a:spcBef>
                <a:spcPts val="800"/>
              </a:spcBef>
              <a:defRPr sz="1050">
                <a:solidFill>
                  <a:srgbClr val="F8FAFC"/>
                </a:solidFill>
              </a:defRPr>
            </a:pPr>
            <a:r>
              <a:t>•  Phase 2 (Derivatives): Live NSE Option Chain, Open Interest (OI) graphs, real-time Greeks, and strategy payoff builder.</a:t>
            </a:r>
          </a:p>
          <a:p>
            <a:pPr>
              <a:spcBef>
                <a:spcPts val="800"/>
              </a:spcBef>
              <a:defRPr sz="1050">
                <a:solidFill>
                  <a:srgbClr val="F8FAFC"/>
                </a:solidFill>
              </a:defRPr>
            </a:pPr>
            <a:r>
              <a:t>•  Phase 3 (Agentic AI): Consolidated Account Statement (CAS) portfolio auditor with automated tax-loss harvesting.</a:t>
            </a:r>
          </a:p>
        </p:txBody>
      </p:sp>
      <p:sp>
        <p:nvSpPr>
          <p:cNvPr id="7" name="Rounded Rectangle 6"/>
          <p:cNvSpPr/>
          <p:nvPr/>
        </p:nvSpPr>
        <p:spPr>
          <a:xfrm>
            <a:off x="6227064"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defRPr>
            </a:pPr>
            <a:r>
              <a:t>Architecture &amp; Implementation Evidence</a:t>
            </a:r>
          </a:p>
          <a:p>
            <a:pPr>
              <a:spcBef>
                <a:spcPts val="800"/>
              </a:spcBef>
              <a:defRPr sz="1050">
                <a:solidFill>
                  <a:srgbClr val="F8FAFC"/>
                </a:solidFill>
              </a:defRPr>
            </a:pPr>
            <a:r>
              <a:t>•  Phase 4 &amp; 5 (Omnichannel): Primary market IPO radar with live GMP + native iOS/Android apps with WhatsApp alerts.</a:t>
            </a:r>
          </a:p>
          <a:p>
            <a:pPr>
              <a:spcBef>
                <a:spcPts val="1400"/>
              </a:spcBef>
              <a:defRPr sz="950" i="1">
                <a:solidFill>
                  <a:srgbClr val="94A3B8"/>
                </a:solidFill>
              </a:defRPr>
            </a:pPr>
            <a:r>
              <a:t>Voiceover Narration Summary:</a:t>
            </a:r>
            <a:br/>
            <a:r>
              <a:t>"Looking ahead, Dalal Street Pulse is designed to scale into an end-to-end execution terminal. Our strategic roadmap spans five phases. Phase 1 introduces direct 1-click b..."</a:t>
            </a:r>
          </a:p>
        </p:txBody>
      </p:sp>
      <p:sp>
        <p:nvSpPr>
          <p:cNvPr id="8" name="TextBox 7"/>
          <p:cNvSpPr txBox="1"/>
          <p:nvPr/>
        </p:nvSpPr>
        <p:spPr>
          <a:xfrm>
            <a:off x="731520" y="6217920"/>
            <a:ext cx="10728655" cy="365760"/>
          </a:xfrm>
          <a:prstGeom prst="rect">
            <a:avLst/>
          </a:prstGeom>
          <a:noFill/>
        </p:spPr>
        <p:txBody>
          <a:bodyPr wrap="none">
            <a:spAutoFit/>
          </a:bodyPr>
          <a:lstStyle/>
          <a:p>
            <a:pPr>
              <a:defRPr sz="800">
                <a:solidFill>
                  <a:srgbClr val="94A3B8"/>
                </a:solidFill>
              </a:defRPr>
            </a:pPr>
            <a:r>
              <a:t>Dalal Street Pulse  |  Slide 11 of 12  |  AI-Receptive Mini-Project Presentation  |  Audio Voiceover Included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7315200" cy="365760"/>
          </a:xfrm>
          <a:prstGeom prst="rect">
            <a:avLst/>
          </a:prstGeom>
          <a:noFill/>
        </p:spPr>
        <p:txBody>
          <a:bodyPr wrap="square">
            <a:spAutoFit/>
          </a:bodyPr>
          <a:lstStyle/>
          <a:p>
            <a:pPr>
              <a:defRPr sz="950" b="1">
                <a:solidFill>
                  <a:srgbClr val="38BDF8"/>
                </a:solidFill>
              </a:defRPr>
            </a:pPr>
            <a:r>
              <a:t>SELF-ASSESSMENT • 30 MARKS RUBRIC  •  COMPLETE CRITERIA VERIFICATION &amp; SUMMARY</a:t>
            </a:r>
          </a:p>
        </p:txBody>
      </p:sp>
      <p:sp>
        <p:nvSpPr>
          <p:cNvPr id="5" name="TextBox 4"/>
          <p:cNvSpPr txBox="1"/>
          <p:nvPr/>
        </p:nvSpPr>
        <p:spPr>
          <a:xfrm>
            <a:off x="731520" y="777240"/>
            <a:ext cx="10728655" cy="1005840"/>
          </a:xfrm>
          <a:prstGeom prst="rect">
            <a:avLst/>
          </a:prstGeom>
          <a:noFill/>
        </p:spPr>
        <p:txBody>
          <a:bodyPr wrap="square">
            <a:spAutoFit/>
          </a:bodyPr>
          <a:lstStyle/>
          <a:p>
            <a:pPr>
              <a:defRPr sz="2400" b="1">
                <a:solidFill>
                  <a:srgbClr val="F8FAFC"/>
                </a:solidFill>
              </a:defRPr>
            </a:pPr>
            <a:r>
              <a:t>Evaluation, Rubric Assessment &amp; Conclusion</a:t>
            </a:r>
          </a:p>
          <a:p>
            <a:pPr>
              <a:spcBef>
                <a:spcPts val="300"/>
              </a:spcBef>
              <a:defRPr sz="1200">
                <a:solidFill>
                  <a:srgbClr val="94A3B8"/>
                </a:solidFill>
              </a:defRPr>
            </a:pPr>
            <a:r>
              <a:t>Demonstrating 30/30 Marks Fulfillment &amp; Final Engineering Takeaways</a:t>
            </a:r>
          </a:p>
        </p:txBody>
      </p:sp>
      <p:sp>
        <p:nvSpPr>
          <p:cNvPr id="6" name="Rounded Rectangle 5"/>
          <p:cNvSpPr/>
          <p:nvPr/>
        </p:nvSpPr>
        <p:spPr>
          <a:xfrm>
            <a:off x="731520"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Key Technical &amp; Methodological Highlights</a:t>
            </a:r>
          </a:p>
          <a:p>
            <a:pPr>
              <a:spcBef>
                <a:spcPts val="800"/>
              </a:spcBef>
              <a:defRPr sz="1050">
                <a:solidFill>
                  <a:srgbClr val="F8FAFC"/>
                </a:solidFill>
              </a:defRPr>
            </a:pPr>
            <a:r>
              <a:t>•  Task 1 (8 Marks): Domain problem defined (Banking/Wealth), 2 user types identified, grounded AI with risk analysis.</a:t>
            </a:r>
          </a:p>
          <a:p>
            <a:pPr>
              <a:spcBef>
                <a:spcPts val="800"/>
              </a:spcBef>
              <a:defRPr sz="1050">
                <a:solidFill>
                  <a:srgbClr val="F8FAFC"/>
                </a:solidFill>
              </a:defRPr>
            </a:pPr>
            <a:r>
              <a:t>•  Task 2 (7 Marks): Comparative needs matrix + complete User Persona (Aarav Mehta, 28) with scenario modeling.</a:t>
            </a:r>
          </a:p>
          <a:p>
            <a:pPr>
              <a:spcBef>
                <a:spcPts val="800"/>
              </a:spcBef>
              <a:defRPr sz="1050">
                <a:solidFill>
                  <a:srgbClr val="F8FAFC"/>
                </a:solidFill>
              </a:defRPr>
            </a:pPr>
            <a:r>
              <a:t>•  Task 3 (8 Marks): 3 full screens, sitemap navigation architecture, and interactive labels/buttons/feedback.</a:t>
            </a:r>
          </a:p>
        </p:txBody>
      </p:sp>
      <p:sp>
        <p:nvSpPr>
          <p:cNvPr id="7" name="Rounded Rectangle 6"/>
          <p:cNvSpPr/>
          <p:nvPr/>
        </p:nvSpPr>
        <p:spPr>
          <a:xfrm>
            <a:off x="6227064" y="1920240"/>
            <a:ext cx="5230368" cy="4023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defRPr>
            </a:pPr>
            <a:r>
              <a:t>Architecture &amp; Implementation Evidence</a:t>
            </a:r>
          </a:p>
          <a:p>
            <a:pPr>
              <a:spcBef>
                <a:spcPts val="800"/>
              </a:spcBef>
              <a:defRPr sz="1050">
                <a:solidFill>
                  <a:srgbClr val="F8FAFC"/>
                </a:solidFill>
              </a:defRPr>
            </a:pPr>
            <a:r>
              <a:t>•  Task 4 (7 Marks): AI tool applied across 4 activities with verified code artifacts and Vitest test suites.</a:t>
            </a:r>
          </a:p>
          <a:p>
            <a:pPr>
              <a:spcBef>
                <a:spcPts val="800"/>
              </a:spcBef>
              <a:defRPr sz="1050">
                <a:solidFill>
                  <a:srgbClr val="F8FAFC"/>
                </a:solidFill>
              </a:defRPr>
            </a:pPr>
            <a:r>
              <a:t>•  Conclusion: Combining Human-Centered Design with grounded AI transforms retail financial intelligence.</a:t>
            </a:r>
          </a:p>
          <a:p>
            <a:pPr>
              <a:spcBef>
                <a:spcPts val="1400"/>
              </a:spcBef>
              <a:defRPr sz="950" i="1">
                <a:solidFill>
                  <a:srgbClr val="94A3B8"/>
                </a:solidFill>
              </a:defRPr>
            </a:pPr>
            <a:r>
              <a:t>Voiceover Narration Summary:</a:t>
            </a:r>
            <a:br/>
            <a:r>
              <a:t>"To conclude, here is our self-assessment against the 30-mark mini-project rubric. We have comprehensively fulfilled all requirements: Task 1 with 8 marks for problem iden..."</a:t>
            </a:r>
          </a:p>
        </p:txBody>
      </p:sp>
      <p:sp>
        <p:nvSpPr>
          <p:cNvPr id="8" name="TextBox 7"/>
          <p:cNvSpPr txBox="1"/>
          <p:nvPr/>
        </p:nvSpPr>
        <p:spPr>
          <a:xfrm>
            <a:off x="731520" y="6217920"/>
            <a:ext cx="10728655" cy="365760"/>
          </a:xfrm>
          <a:prstGeom prst="rect">
            <a:avLst/>
          </a:prstGeom>
          <a:noFill/>
        </p:spPr>
        <p:txBody>
          <a:bodyPr wrap="none">
            <a:spAutoFit/>
          </a:bodyPr>
          <a:lstStyle/>
          <a:p>
            <a:pPr>
              <a:defRPr sz="800">
                <a:solidFill>
                  <a:srgbClr val="94A3B8"/>
                </a:solidFill>
              </a:defRPr>
            </a:pPr>
            <a:r>
              <a:t>Dalal Street Pulse  |  Slide 12 of 12  |  AI-Receptive Mini-Project Presentation  |  Audio Voiceover Included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